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74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Forensic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Tool  v2.1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Digital Forensic Evidence Collection, Correlation &amp; Anomaly Detection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54864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</a:rPr>
              <a:t>Course:  </a:t>
            </a:r>
            <a:r>
              <a:rPr lang="en-US" sz="1400" dirty="0">
                <a:solidFill>
                  <a:srgbClr val="E5E7EB"/>
                </a:solidFill>
              </a:rPr>
              <a:t>Digital Forensics — Spring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</a:rPr>
              <a:t>University:  </a:t>
            </a:r>
            <a:r>
              <a:rPr lang="en-US" sz="1400" dirty="0">
                <a:solidFill>
                  <a:srgbClr val="E5E7EB"/>
                </a:solidFill>
              </a:rPr>
              <a:t>Riphah International University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</a:rPr>
              <a:t>Instructor:  </a:t>
            </a:r>
            <a:r>
              <a:rPr lang="en-US" sz="1400" dirty="0">
                <a:solidFill>
                  <a:srgbClr val="E5E7EB"/>
                </a:solidFill>
              </a:rPr>
              <a:t>Sir Hummayun Raza</a:t>
            </a:r>
            <a:endParaRPr lang="en-US" sz="14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0A9356B-9483-E56A-70BF-74C85F6D262B}"/>
              </a:ext>
            </a:extLst>
          </p:cNvPr>
          <p:cNvSpPr/>
          <p:nvPr/>
        </p:nvSpPr>
        <p:spPr>
          <a:xfrm>
            <a:off x="457200" y="43738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</a:rPr>
              <a:t>Presented By:  </a:t>
            </a:r>
            <a:r>
              <a:rPr lang="en-US" sz="1400" b="1" dirty="0">
                <a:solidFill>
                  <a:schemeClr val="bg1"/>
                </a:solidFill>
              </a:rPr>
              <a:t>Muhammad Ahsan Qureshi and Abdul Ahad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69080" cy="16916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4008" cy="16916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17043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1792" y="160020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collects, parses &amp; correlates Windows artifacts to reconstruct system activity without modifying original evidence.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005840"/>
            <a:ext cx="4069080" cy="16916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00600" y="1005840"/>
            <a:ext cx="64008" cy="1691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17043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143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65192" y="160020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scattered across 6+ Windows artifact locations. Manual examination takes hours and misses cross-artifact connections.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4069080" cy="16916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57200" y="2880360"/>
            <a:ext cx="64008" cy="1691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04495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1792" y="347472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Python modules in a pipeline: 6 Parsers → Correlator → Anomaly Detector → Suspicious Exec Detector → 3 Report Generators.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800600" y="2880360"/>
            <a:ext cx="4069080" cy="16916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00600" y="2880360"/>
            <a:ext cx="64008" cy="16916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04495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Soundness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965192" y="347472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files opened read-only. MD5 + SHA-256 hashed before parsing. Every operation timestamped to audit_log.txt.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ONE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kern="0" spc="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  &amp;  Core  Infrastructure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640080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BEAFE"/>
                </a:solidFill>
              </a:rPr>
              <a:t>prefetch_parser.py   lnk_parser.py   recycle_bin_parser.py   jumplists_parser.py   userassist_parser.py   shellbags_parser.py   audit_logger.py   main.py   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4747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65760" y="2087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&amp;  audit_logger.py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07720"/>
            <a:ext cx="4114800" cy="406146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64008" cy="3931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1005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9982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main.py — Entry Point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37490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Parses --live or --offline flags via </a:t>
            </a:r>
            <a:r>
              <a:rPr lang="en-US" sz="14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argparse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Builds ForensicPaths object with all artifact directory paths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Instantiates all 6 parsers and calls them in sequence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Passes combined events to Correlator, AnomalyDetector &amp; </a:t>
            </a:r>
            <a:r>
              <a:rPr lang="en-US" sz="14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SuspiciousExecDetector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Calls ReportGenerator and ForensicSummaryWriter to produce all outputs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modes: live (reg save) vs offline (direct NTUSER.DAT read)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114800" cy="39319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822960"/>
            <a:ext cx="64008" cy="3931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14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9677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audit_logger.py — Chain of Custody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4632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 audit_log.txt with UTC timestamps on every operation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Creates hashes.txt with MD5 + SHA-256 of every source file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hash_file() reads in 64KB chunks — handles large files efficiently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read-only 'rb' mode — never modifies any artifact
</a:t>
            </a:r>
            <a:r>
              <a:rPr lang="en-US" sz="14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log_section</a:t>
            </a: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/ log_error() / log() provide structured logging
Hashes are computed BEFORE any parsing begins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75260"/>
            <a:ext cx="8229600" cy="492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prefetch_parser.py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64008" cy="6583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804672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Value: Proves a program executed — even if the executable was deleted afterward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120640" cy="3200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64008" cy="3200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It Parses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.pf file as raw binary (read-only)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Checks first 4 bytes for MAM signature → decompresses using Windows RtlDecompressBufferEx (Win10/11)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Verifies SCCA magic bytes to confirm valid Prefetch file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version number: 17=XP, 23=Vista/7, 26=Win8, 30=Win10/11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Extracts executable name (bytes 16–76, UTF-16LE encoded)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up to 8 previous run timestamps from offset 0x80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Extracts loaded DLL/file list from File Metrics Array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3108960" cy="3200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0" y="1554480"/>
            <a:ext cx="64008" cy="3200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Output Fields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52160" y="1627632"/>
            <a:ext cx="2743200" cy="2852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executable_name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run_count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last_run_time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previous_runs (×7)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files_loaded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prefetch_hash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md5 + sha256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64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userassist_parser.py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64008" cy="6583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bg1"/>
                </a:solidFill>
              </a:rPr>
              <a:t>Forensic Value: Proves a human manually launched a program via GUI — not automated or scripted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4023360" cy="137160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64008" cy="13716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ROT13 Encoding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 encodes program names using ROT13 (each letter shifted 13 positions). This is NOT encryption — it is legacy obfuscation. Example: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578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C:\Users\Ali\nmap.exe  →  P:\Hfref\Nyv\aznc.rkr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554480"/>
            <a:ext cx="4206240" cy="3200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554480"/>
            <a:ext cx="64008" cy="3200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It Parses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Opens NTUSER.DAT using python-registry library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Navigates to UserAssist registry key path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Iterates GUID subkeys (Executed Apps, Shortcut Links, etc.)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ROT13-decodes each value name to get real program path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Skips UEME_ internal Windows counter entries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binary value: offset 0x04=run count, 0x3C=last run FILETIME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023360" cy="1961388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64008" cy="19613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090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Output Fields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3474720"/>
            <a:ext cx="3657600" cy="1356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application_path (decoded)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run_count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focus_count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focus_time_ms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last_run_time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guid_category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28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lnk_parser.py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64008" cy="6583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7EB"/>
                </a:solidFill>
              </a:rPr>
              <a:t>Forensic Value: Proves file access — records drive type, volume serial, machine name &amp; MAC address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120640" cy="3200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64008" cy="3200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It Parses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4754880" cy="266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Scans each user's Recent folder for .</a:t>
            </a:r>
            <a:r>
              <a:rPr lang="en-US" sz="13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lnk</a:t>
            </a: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Validates LNK magic: first 4 bytes = 0x4C000000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ShellLinkHeader (76 bytes): link flags, 3 timestamps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HAS_LINK_INFO flag set: reads drive type &amp; volume serial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in v2.1: Parses TrackerDataBlock from </a:t>
            </a:r>
            <a:r>
              <a:rPr lang="en-US" sz="13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ExtraData</a:t>
            </a: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section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TrackerDataBlock gives: NetBIOS machine name + MAC address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build_usb_provenance_map() groups LNK files by volume serial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3108960" cy="3200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0" y="1554480"/>
            <a:ext cx="64008" cy="3200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Drive Type Values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52160" y="20116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= Unknown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= Removable / USB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= Fixed (HDD/SSD)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= Network Share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= CD-ROM</a:t>
            </a:r>
          </a:p>
        </p:txBody>
      </p:sp>
      <p:sp>
        <p:nvSpPr>
          <p:cNvPr id="16" name="Text 14"/>
          <p:cNvSpPr/>
          <p:nvPr/>
        </p:nvSpPr>
        <p:spPr>
          <a:xfrm>
            <a:off x="5852160" y="3520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9E0B"/>
                </a:solidFill>
              </a:rPr>
              <a:t>Volume serial links multiple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59E0B"/>
                </a:solidFill>
              </a:rPr>
              <a:t>access events to the same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59E0B"/>
                </a:solidFill>
              </a:rPr>
              <a:t>physical USB drive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82880"/>
            <a:ext cx="8229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recycle_bin_parser.py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64008" cy="6583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7EB"/>
                </a:solidFill>
              </a:rPr>
              <a:t>Forensic Value: Proves a file was deleted — original path, size &amp; exact timestamp survive even after emptying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120640" cy="34061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64008" cy="32004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It Parses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4754880" cy="2804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Scans C:\$Recycle.Bin\{SID}\ for $I metadata files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version from first 8 bytes (QWORD)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 1 (Vista/7): path at offset 0x18, fixed 520 bytes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 2 (Win8+): path length at 0x18, then path follows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Deletion timestamp at offset 0x10 — FILETIME format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_deletion_dt_raw stored as Python datetime for time arithmetic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Detects bulk deletion: 10+ files deleted within 60 seconds per SID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3108960" cy="3200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0" y="1554480"/>
            <a:ext cx="64008" cy="3200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$I File Layout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52160" y="1484376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Offset 0x00 = Version (QWORD)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Offset 0x08 = File size (QWORD)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Offset 0x10 = Deletion time (FILETIME)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Offset 0x18 = Original path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Paired $R file = actual file content (recoverable by carving)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182880"/>
            <a:ext cx="822960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jumplists_parser.py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64008" cy="6583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7EB"/>
                </a:solidFill>
              </a:rPr>
              <a:t>Forensic Value: Links specific applications to specific files they opened — survives clearing the Recent folder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120640" cy="34061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64008" cy="3200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5453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It Parses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4754880" cy="2987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Scans AutomaticDestinations folder for .</a:t>
            </a:r>
            <a:r>
              <a:rPr lang="en-US" sz="13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automaticDestinations-ms</a:t>
            </a: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file is an OLE Compound Document — parsed with </a:t>
            </a:r>
            <a:r>
              <a:rPr lang="en-US" sz="1300" dirty="0" err="1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olefile</a:t>
            </a: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library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 ID (filename without extension) mapped to known app names
Reads DestList OLE stream — the index of recent file entries
Version 3+ (Win10/11): each entry has 4 extra bytes in header
Extracts: file path (UTF-16LE), access count, last accessed FILETIME
Fallback: reads per-entry LNK streams if DestList path is empty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3108960" cy="3200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0" y="1554480"/>
            <a:ext cx="64008" cy="3200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Known App IDs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52160" y="2066544"/>
            <a:ext cx="2743200" cy="2414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Windows Explorer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 Word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Microsoft Excel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Adobe Acrobat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Notepad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VLC Media Player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Chrome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Mozilla Firefox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7-Zip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 Code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04800"/>
            <a:ext cx="8229600" cy="362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shellbags_parser.py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64008" cy="6583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0467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5E7EB"/>
                </a:solidFill>
              </a:rPr>
              <a:t>Forensic Value: Records folder browsing — including deleted folders, removed USB drives, and network shares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5120640" cy="3200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64008" cy="32004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How It Parses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4754880" cy="2613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Reads UsrClass.dat first (Win10/11 — active shellbags here)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Falls back to NTUSER.DAT if UsrClass.dat not found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Recursively traverses BagMRU registry tree (mirrors folder hierarchy)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numeric value is a binary ShellItem blob — decoded by type byte at offset 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0x1F = Root GUID (Desktop, My Computer), 0x2F = Volume, 0x30-0x32 = File/Folder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Scans for BEEF0004 extension block — contains long Unicode filename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0xC3 = Network share (UNC path like \\Server\Share)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0" y="1554480"/>
            <a:ext cx="3108960" cy="32004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0" y="1554480"/>
            <a:ext cx="64008" cy="3200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ShellItem Types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52160" y="2011680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0x1F → Root / GUID items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0x2F → Volume (drive letter)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0x30 → Folder (non-file system)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0x31 → File system folder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0x32 → File system file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0xC3 → Network share (UNC)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BEEF0004 → Long name + FILETIME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TWO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kern="0" spc="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 Engines  &amp;  Reporting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2423160"/>
            <a:ext cx="6400800" cy="45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</a:rPr>
              <a:t>forensic_utils.py   correlator.py   anomaly_detector.py   suspicious_exec_detector.py   timeline_visualizer.py   forensic_summary_writer.py   report_generator.py   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4747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81940"/>
            <a:ext cx="8229600" cy="3855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forensic_utils.py — Shared Utilities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21031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64008" cy="21031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96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FILETIME Conversion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Windows stores timestamps as 100-nanosecond intervals since Jan 1, 1601. Unix epoch is Jan 1, 1970. Difference = 11,644,473,600 seconds.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unix = (filetime ÷ 10,000,000) − 11,644,473,600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Validated against year 1970–3000 bounds to reject corrupt values.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14800" cy="21031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64008" cy="2103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896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path_normalise()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261872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Strip null terminators (\x00)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 to lowercase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Expand %SystemRoot%, %AppData%, etc.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Replace forward slashes with backslashes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Strip 8.3 short names (PROGRA~1)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Collapse duplicate backslashes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2651760" cy="16916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64008" cy="16916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ForensicPaths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Centralises all artifact directory paths. Supports .live() and .offline() factory methods. Avoids hardcoded paths.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3063240"/>
            <a:ext cx="2651760" cy="16916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0" y="3063240"/>
            <a:ext cx="64008" cy="16916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safe_basename()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Null-safe wrapper for os.path.basename. Strips Windows \x00 terminators found in Recycle Bin paths.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3063240"/>
            <a:ext cx="2651760" cy="16916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3063240"/>
            <a:ext cx="64008" cy="1691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traceback_str()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Returns full exception traceback as a string. Used by all modules when debug=True is passed to constructors.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89560"/>
            <a:ext cx="8229600" cy="377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correlator.py — Correlation Engine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57200" cy="5486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60120" y="777240"/>
            <a:ext cx="7818120" cy="5486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822960"/>
            <a:ext cx="118872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Normalise: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822960"/>
            <a:ext cx="621792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path_normalise() strips nulls, expands env vars, lowercases, removes 8.3 short names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81912"/>
            <a:ext cx="457200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0120" y="1581912"/>
            <a:ext cx="7818120" cy="5486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1627632"/>
            <a:ext cx="118872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Group: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31720" y="1627632"/>
            <a:ext cx="621792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Group events by normalised filename key OR by matching MD5/SHA-256 hash (catches renamed files)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386584"/>
            <a:ext cx="457200" cy="5486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38658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0120" y="2386584"/>
            <a:ext cx="7818120" cy="5486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97280" y="2432304"/>
            <a:ext cx="118872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Cluster: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31720" y="2432304"/>
            <a:ext cx="621792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Within each group, sort by timestamp and cluster events within 300-second time window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191256"/>
            <a:ext cx="457200" cy="5486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1912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60120" y="3191256"/>
            <a:ext cx="7818120" cy="5486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97280" y="3236976"/>
            <a:ext cx="118872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Score: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31720" y="3236976"/>
            <a:ext cx="621792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Significance 0–100: +25 access→delete, +20 exec→delete, +15 USB, +10 security tool deleted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995928"/>
            <a:ext cx="457200" cy="548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9959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0120" y="3995928"/>
            <a:ext cx="7818120" cy="5486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97280" y="4041648"/>
            <a:ext cx="118872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</a:rPr>
              <a:t>Confidence: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331720" y="4041648"/>
            <a:ext cx="6217920" cy="464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Reliability score: Prefetch=40%, JumpList=25%, RecycleBin=20%, LNK=15%, UserAssist=10%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559222"/>
            <a:ext cx="8412480" cy="54864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4559222"/>
            <a:ext cx="64008" cy="548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460494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Thresholds:  </a:t>
            </a:r>
            <a:r>
              <a:rPr lang="en-US" sz="1400" dirty="0">
                <a:solidFill>
                  <a:srgbClr val="E5E7EB"/>
                </a:solidFill>
              </a:rPr>
              <a:t>85–100 = CRITICAL   70–84 = HIGH   55–69 = MEDIUM   below 55 = LOW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43840"/>
            <a:ext cx="8229600" cy="423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anomaly_detector.py — 5 Anomaly Types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679704"/>
            <a:ext cx="8412480" cy="704088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64008" cy="7040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79552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TYPE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17320" y="914400"/>
            <a:ext cx="27432" cy="36576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0" y="7955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Execution Without Prefetch 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34740" y="82753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Program in UserAssist but NO matching Prefetch file → Prefetch disabled or selectively deleted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92440" y="827532"/>
            <a:ext cx="6400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</a:rPr>
              <a:t>HIGH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591056"/>
            <a:ext cx="8412480" cy="704088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591056"/>
            <a:ext cx="64008" cy="7040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163677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TYPE 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17320" y="1755648"/>
            <a:ext cx="27432" cy="36576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54480" y="163677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Deletion Without Prior Access  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34740" y="167487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File in Recycle Bin but NO record in LNK or Jump Lists → downloaded and immediately deleted without opening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17556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0B981"/>
                </a:solidFill>
              </a:rPr>
              <a:t>MEDIUM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32304"/>
            <a:ext cx="8412480" cy="704088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432304"/>
            <a:ext cx="64008" cy="7040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47802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TYPE 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417320" y="2596896"/>
            <a:ext cx="27432" cy="36576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54480" y="247802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Silent Execution  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34740" y="248716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Security tool (Wireshark, Nmap, Mimikatz…) in Prefetch but NO UserAssist record → ran via CLI or script, not GUI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92440" y="259689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</a:rPr>
              <a:t>HIGH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305556"/>
            <a:ext cx="8412480" cy="704088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64008" cy="70408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31927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TYPE 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17320" y="3438144"/>
            <a:ext cx="27432" cy="36576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554480" y="33192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Rapid Sequential Deletions  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34740" y="33192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5+ files deleted within 30 seconds → cannot be manual; strong indicator of scripted evidence destruction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92440" y="343814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F4444"/>
                </a:solidFill>
              </a:rPr>
              <a:t>CRITICAL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114800"/>
            <a:ext cx="8412480" cy="704088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64008" cy="7040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16052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TYPE 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17320" y="4279392"/>
            <a:ext cx="27432" cy="365760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554480" y="4160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High-Value File Deletion  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34740" y="415594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.pcap, .evtx, .py, .kdbx, .pem, .exe — forensically significant file types deleted from Recycle Bin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42793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</a:rPr>
              <a:t>HIGH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20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suspicious_exec_detector.py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5303520" cy="393192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64008" cy="3931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50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Detection Patterns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\temp\  or  \windows\temp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344168"/>
            <a:ext cx="77724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3441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7007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\$recycle\ (Recycle Bin exec)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746504"/>
            <a:ext cx="77724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7465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103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\downloads\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2148840"/>
            <a:ext cx="77724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2148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5054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\appdata\roaming\  or  \local\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2551176"/>
            <a:ext cx="77724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255117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9077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\desktop\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953512"/>
            <a:ext cx="77724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29535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310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Drive root  (D:\malware.exe)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355848"/>
            <a:ext cx="77724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17720" y="33558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MEDIUM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7124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\onedrive\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3758184"/>
            <a:ext cx="777240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17720" y="37581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Deeply nested path (6+ levels)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4160520"/>
            <a:ext cx="777240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17720" y="41605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52160" y="777240"/>
            <a:ext cx="2926080" cy="182880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52160" y="777240"/>
            <a:ext cx="64008" cy="1828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35040" y="8503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Escalation Logic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035040" y="12344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If a program matches 2 or more patterns simultaneously, risk escalates from MEDIUM → HIGH automatically.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52160" y="2743200"/>
            <a:ext cx="2926080" cy="196596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52160" y="2743200"/>
            <a:ext cx="64008" cy="1965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35040" y="28163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Whitelist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035040" y="32004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svchost.exe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runtimebroker.exe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taskhostw.exe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dllhost.exe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msiexec.exe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</a:rPr>
              <a:t>msmpeng.exe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297180"/>
            <a:ext cx="822960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Outputs — Reports &amp; Visualization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69080" cy="19202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64008" cy="1920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886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timeline_visual.html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252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563EB"/>
                </a:solidFill>
              </a:rPr>
              <a:t>timeline_visualizer.py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58191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Interactive stacked bar chart of monthly activity by artifact source. Doughnut chart for event distribution. Top deleted files &amp; most executed programs tables.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777240"/>
            <a:ext cx="4069080" cy="19202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777240"/>
            <a:ext cx="64008" cy="1920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1440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8869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forensic_summary.txt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03520" y="1252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0B981"/>
                </a:solidFill>
              </a:rPr>
              <a:t>forensic_summary_writer.py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46320" y="158191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Human-readable report: activity profile, top 10 executed programs, deleted files inventory, high-priority chains, anomaly report, chain of custody statement.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5760" y="2926080"/>
            <a:ext cx="4069080" cy="19202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64008" cy="1920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6324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3035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forensic_report.html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60120" y="3401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</a:rPr>
              <a:t>report_generator.py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02920" y="373075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Jinja2-rendered HTML report with anomalies, suspicious execution risk matrix, correlated chains with confidence breakdown, USB provenance map, full event timeline.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709160" y="2926080"/>
            <a:ext cx="4069080" cy="1920240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09160" y="2926080"/>
            <a:ext cx="64008" cy="19202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6324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03520" y="3035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forensic_timeline.csv  +  hashes.txt  +  audit_log.txt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303520" y="3401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F4444"/>
                </a:solidFill>
              </a:rPr>
              <a:t>report_generator.py  +  audit_logger.py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846320" y="3730752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</a:rPr>
              <a:t>CSV with all events sorted by timestamp. hashes.txt with MD5/SHA-256 per artifact file. audit_log.txt with every operation timestamped in UTC.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321040" cy="804672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" cy="8046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005840" cy="80467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00200" y="10789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Artifact Sources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40817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Prefetch, UserAssist, LNK, Jump Lists, Recycle Bin, Shellbags — each proving a different forensic fact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321040" cy="804672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64008" cy="8046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1005840" cy="80467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96596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0200" y="2039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Intelligence Engines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23682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Correlator, Anomaly Detector, Suspicious Execution Detector — surfacing patterns no single artifact reveals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321040" cy="804672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64008" cy="8046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1005840" cy="8046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00200" y="2999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Anomaly Types Detected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33284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From silent tool execution to scripted bulk deletion — all mapped to severity levels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321040" cy="804672"/>
          </a:xfrm>
          <a:prstGeom prst="rect">
            <a:avLst/>
          </a:prstGeom>
          <a:solidFill>
            <a:srgbClr val="1C2333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64008" cy="8046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1005840" cy="80467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2×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600200" y="39593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Hash Algorithms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0200" y="42885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</a:rPr>
              <a:t>MD5 + SHA-256 computed before every parse — complete chain of custody built into the tool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Windows Forensic Triage Tool v2.1  |  Riphah International University  |  BS Cybersecurity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1" name="Isosceles Triangle 104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Thank you slide Vectors - Download Free High-Quality Vectors ...">
            <a:extLst>
              <a:ext uri="{FF2B5EF4-FFF2-40B4-BE49-F238E27FC236}">
                <a16:creationId xmlns:a16="http://schemas.microsoft.com/office/drawing/2014/main" id="{5A3E53B6-EC84-EB02-6992-D5362AF6A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19138" y="482600"/>
            <a:ext cx="5905722" cy="4178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0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2089</Words>
  <Application>Microsoft Office PowerPoint</Application>
  <PresentationFormat>On-screen Show (16:9)</PresentationFormat>
  <Paragraphs>269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Forensic Triage Tool v2.1</dc:title>
  <dc:subject>PptxGenJS Presentation</dc:subject>
  <dc:creator>PptxGenJS</dc:creator>
  <cp:lastModifiedBy>AHSAN AHMED</cp:lastModifiedBy>
  <cp:revision>4</cp:revision>
  <dcterms:created xsi:type="dcterms:W3CDTF">2026-05-16T03:28:37Z</dcterms:created>
  <dcterms:modified xsi:type="dcterms:W3CDTF">2026-05-16T04:17:52Z</dcterms:modified>
</cp:coreProperties>
</file>